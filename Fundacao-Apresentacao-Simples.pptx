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Orçamento anual (€ mil)</c:v>
                </c:pt>
              </c:strCache>
            </c:strRef>
          </c:tx>
          <c:spPr>
            <a:solidFill>
              <a:srgbClr val="FF9F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235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Ano 1</c:v>
                  </c:pt>
                  <c:pt idx="1">
                    <c:v>Ano 2</c:v>
                  </c:pt>
                  <c:pt idx="2">
                    <c:v>Ano 3</c:v>
                  </c:pt>
                  <c:pt idx="3">
                    <c:v>Ano 4</c:v>
                  </c:pt>
                  <c:pt idx="4">
                    <c:v>Ano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308</c:v>
                </c:pt>
                <c:pt idx="1">
                  <c:v>374</c:v>
                </c:pt>
                <c:pt idx="2">
                  <c:v>514</c:v>
                </c:pt>
                <c:pt idx="3">
                  <c:v>655</c:v>
                </c:pt>
                <c:pt idx="4">
                  <c:v>715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235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98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98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Versão curta: 5 minutos. A mensagem é uma só — o produto está validado; para crescer preciso de 3 coisas: equipa, financiamento faseado e portas abertas.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3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77640" y="8229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🍼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Creches.app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2697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preciso para isto crescer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32918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F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pedidos concretos para tornar o creches.app a plataforma de eleição em 5 anos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43891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Joaquim Cabral · Julho 2026 · Confidencial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produto está validado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Construído por uma pessoa, em meses, sem financiamento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3619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2.800+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2240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creches no mapa — o dataset mais completo do país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16459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8A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 + Público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83280" y="2240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de imprensa nacional orgânica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6459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1.º no Gemini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72200" y="2240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«como encontrar creches em Portugal»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24612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já tem o que mais ninguém tem: </a:t>
            </a:r>
            <a:pPr algn="ctr" indent="0" marL="0">
              <a:buNone/>
            </a:pPr>
            <a:r>
              <a:rPr lang="en-US" sz="15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calculadora de custos, comparador de creches, integração Creche Feliz e o primeiro sistema de vagas em tempo real de Portugal — tudo gratuito, sem publicidade e sem venda de dados.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limite ao crescimento já não é o produto. É uma pessoa a fazer tudo.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o momento é agora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bebés, vagas gratuitas insuficientes, zero transparência — a dor nunca foi tão grande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6276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8A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87.732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bebés em 2025 — o máximo da década (INE)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4630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16276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~250 mil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83280" y="2331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crianças até aos 3 anos com direito a creche gratuita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6276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72200" y="2331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que precisam ficam fora das vagas do Creche Feliz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38328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anos, dezenas de milhares de famílias repetem o mesmo calvário: telefonar a 15–30 creches, listas de espera opacas, meses sem resposta. Nenhuma ferramenta — pública ou privada — resolve isto. Nós já começámos a resolver.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Preciso de 1: uma equipa de 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Passar de «um pai a fazer tudo» para uma equipa pequena e focada — eu continuo como rosto e decisor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694944"/>
          </a:xfrm>
          <a:prstGeom prst="roundRect">
            <a:avLst>
              <a:gd name="adj" fmla="val 9211"/>
            </a:avLst>
          </a:prstGeom>
          <a:solidFill>
            <a:srgbClr val="F7F5FB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52704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50876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dirty="0">
                <a:solidFill>
                  <a:srgbClr val="000000"/>
                </a:solidFill>
              </a:rPr>
              <a:t>💻</a:t>
            </a:r>
            <a:endParaRPr lang="en-US" sz="1872" dirty="0"/>
          </a:p>
        </p:txBody>
      </p:sp>
      <p:sp>
        <p:nvSpPr>
          <p:cNvPr id="7" name="Text 5"/>
          <p:cNvSpPr/>
          <p:nvPr/>
        </p:nvSpPr>
        <p:spPr>
          <a:xfrm>
            <a:off x="1280160" y="1463040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sénior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1463040"/>
            <a:ext cx="5257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Vagas em tempo real à escala + app nativa com notificações («abriu vaga a 800 m»)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221992"/>
            <a:ext cx="8229600" cy="694944"/>
          </a:xfrm>
          <a:prstGeom prst="roundRect">
            <a:avLst>
              <a:gd name="adj" fmla="val 9211"/>
            </a:avLst>
          </a:prstGeom>
          <a:solidFill>
            <a:srgbClr val="F7F5FB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2331720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" y="2313432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dirty="0">
                <a:solidFill>
                  <a:srgbClr val="000000"/>
                </a:solidFill>
              </a:rPr>
              <a:t>📣</a:t>
            </a:r>
            <a:endParaRPr lang="en-US" sz="1872" dirty="0"/>
          </a:p>
        </p:txBody>
      </p:sp>
      <p:sp>
        <p:nvSpPr>
          <p:cNvPr id="12" name="Text 10"/>
          <p:cNvSpPr/>
          <p:nvPr/>
        </p:nvSpPr>
        <p:spPr>
          <a:xfrm>
            <a:off x="1280160" y="2267712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Comms &amp; growth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267712"/>
            <a:ext cx="5257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Imprensa recorrente, redes sociais, parcerias com pediatras e maternidades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026664"/>
            <a:ext cx="8229600" cy="694944"/>
          </a:xfrm>
          <a:prstGeom prst="roundRect">
            <a:avLst>
              <a:gd name="adj" fmla="val 9211"/>
            </a:avLst>
          </a:prstGeom>
          <a:solidFill>
            <a:srgbClr val="F7F5FB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" y="3136392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3118104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dirty="0">
                <a:solidFill>
                  <a:srgbClr val="000000"/>
                </a:solidFill>
              </a:rPr>
              <a:t>🚗</a:t>
            </a:r>
            <a:endParaRPr lang="en-US" sz="1872" dirty="0"/>
          </a:p>
        </p:txBody>
      </p:sp>
      <p:sp>
        <p:nvSpPr>
          <p:cNvPr id="17" name="Text 15"/>
          <p:cNvSpPr/>
          <p:nvPr/>
        </p:nvSpPr>
        <p:spPr>
          <a:xfrm>
            <a:off x="1280160" y="3072384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&amp; parcerias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3072384"/>
            <a:ext cx="5257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Visitar creches, convencê-las a reportar vagas, acordos com câmaras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831336"/>
            <a:ext cx="8229600" cy="694944"/>
          </a:xfrm>
          <a:prstGeom prst="roundRect">
            <a:avLst>
              <a:gd name="adj" fmla="val 9211"/>
            </a:avLst>
          </a:prstGeom>
          <a:solidFill>
            <a:srgbClr val="F7F5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" y="3941064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76072" y="392277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dirty="0">
                <a:solidFill>
                  <a:srgbClr val="000000"/>
                </a:solidFill>
              </a:rPr>
              <a:t>📊</a:t>
            </a:r>
            <a:endParaRPr lang="en-US" sz="1872" dirty="0"/>
          </a:p>
        </p:txBody>
      </p:sp>
      <p:sp>
        <p:nvSpPr>
          <p:cNvPr id="22" name="Text 20"/>
          <p:cNvSpPr/>
          <p:nvPr/>
        </p:nvSpPr>
        <p:spPr>
          <a:xfrm>
            <a:off x="1280160" y="3877056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(part-time)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91840" y="3877056"/>
            <a:ext cx="5257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Cruzar Carta Social, APIs de câmaras, qualidade do dataset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31520" y="4617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contratação ataca diretamente o que hoje não consigo fazer sozinho.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Preciso de 2: ~€300 mil/ano para arrancar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Faseado e condicionado a resultados — só cresce se as metas forem cumpridas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46634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40680" y="132588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7F5FB"/>
          </a:solidFill>
          <a:ln/>
        </p:spPr>
      </p:sp>
      <p:sp>
        <p:nvSpPr>
          <p:cNvPr id="6" name="Text 3"/>
          <p:cNvSpPr/>
          <p:nvPr/>
        </p:nvSpPr>
        <p:spPr>
          <a:xfrm>
            <a:off x="5623560" y="146304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~2/3 vai para pessoas.
</a:t>
            </a:r>
            <a:pPr indent="0" marL="0">
              <a:buNone/>
            </a:pPr>
            <a:r>
              <a:rPr lang="en-US" sz="12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resto: marketing, trabalho de terreno junto das creches, infraestrutura e legal.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40680" y="301752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FFF1E8"/>
          </a:solidFill>
          <a:ln/>
        </p:spPr>
      </p:sp>
      <p:sp>
        <p:nvSpPr>
          <p:cNvPr id="8" name="Text 5"/>
          <p:cNvSpPr/>
          <p:nvPr/>
        </p:nvSpPr>
        <p:spPr>
          <a:xfrm>
            <a:off x="5623560" y="31546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5 anos: ~€2,57M
</a:t>
            </a:r>
            <a:pPr indent="0" marL="0">
              <a:buNone/>
            </a:pPr>
            <a:r>
              <a:rPr lang="en-US" sz="1200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Tranches anuais com revisão de KPIs. Se não entregar, não escala.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Preciso de 3: portas que só a Fundação abre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Tão valioso como o dinheiro — o acesso institucional é o que acelera tudo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7F5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6420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45920"/>
            <a:ext cx="603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16" dirty="0">
                <a:solidFill>
                  <a:srgbClr val="000000"/>
                </a:solidFill>
              </a:rPr>
              <a:t>🏛</a:t>
            </a:r>
            <a:endParaRPr lang="en-US" sz="2016" dirty="0"/>
          </a:p>
        </p:txBody>
      </p:sp>
      <p:sp>
        <p:nvSpPr>
          <p:cNvPr id="7" name="Text 5"/>
          <p:cNvSpPr/>
          <p:nvPr/>
        </p:nvSpPr>
        <p:spPr>
          <a:xfrm>
            <a:off x="1371600" y="1536192"/>
            <a:ext cx="2103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Social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520440" y="1536192"/>
            <a:ext cx="5029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reunião com o Ministério/GEP para acesso à Carta Social atualizada e articulação com o Creche Feliz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7F5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71576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697480"/>
            <a:ext cx="603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16" dirty="0">
                <a:solidFill>
                  <a:srgbClr val="000000"/>
                </a:solidFill>
              </a:rPr>
              <a:t>🏘</a:t>
            </a:r>
            <a:endParaRPr lang="en-US" sz="2016" dirty="0"/>
          </a:p>
        </p:txBody>
      </p:sp>
      <p:sp>
        <p:nvSpPr>
          <p:cNvPr id="12" name="Text 10"/>
          <p:cNvSpPr/>
          <p:nvPr/>
        </p:nvSpPr>
        <p:spPr>
          <a:xfrm>
            <a:off x="1371600" y="2587752"/>
            <a:ext cx="2103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Câmaras municipais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20440" y="2587752"/>
            <a:ext cx="5029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 junto da ANMP — memorandos com Lisboa, Porto e Cascais como pioneiras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7F5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76732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749040"/>
            <a:ext cx="603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16" dirty="0">
                <a:solidFill>
                  <a:srgbClr val="000000"/>
                </a:solidFill>
              </a:rPr>
              <a:t>🤝</a:t>
            </a:r>
            <a:endParaRPr lang="en-US" sz="2016" dirty="0"/>
          </a:p>
        </p:txBody>
      </p:sp>
      <p:sp>
        <p:nvSpPr>
          <p:cNvPr id="17" name="Text 15"/>
          <p:cNvSpPr/>
          <p:nvPr/>
        </p:nvSpPr>
        <p:spPr>
          <a:xfrm>
            <a:off x="1371600" y="3639312"/>
            <a:ext cx="2103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Outras fundações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520440" y="3639312"/>
            <a:ext cx="5029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Apresentações para co-financiamento a partir do ano 2 — diversificar protege o projeto e a Fundação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troca, o que me comprometo a entregar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verificáveis, reportadas trimestralmente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667512"/>
          </a:xfrm>
          <a:prstGeom prst="roundRect">
            <a:avLst>
              <a:gd name="adj" fmla="val 9589"/>
            </a:avLst>
          </a:prstGeom>
          <a:solidFill>
            <a:srgbClr val="F7F5F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1005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783080" y="1417320"/>
            <a:ext cx="6766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mil visitantes/mês · 500 creches com vagas em tempo real · app nativa · 3 câmaras parceiras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8229600" cy="667512"/>
          </a:xfrm>
          <a:prstGeom prst="roundRect">
            <a:avLst>
              <a:gd name="adj" fmla="val 9589"/>
            </a:avLst>
          </a:prstGeom>
          <a:solidFill>
            <a:srgbClr val="F7F5F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94560"/>
            <a:ext cx="1005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83080" y="2194560"/>
            <a:ext cx="6766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 mil/mês · avaliações de pais · relatório «Estado das Creches» a virar notícia todos os trimestres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667512"/>
          </a:xfrm>
          <a:prstGeom prst="roundRect">
            <a:avLst>
              <a:gd name="adj" fmla="val 9589"/>
            </a:avLst>
          </a:prstGeom>
          <a:solidFill>
            <a:srgbClr val="F7F5F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971800"/>
            <a:ext cx="1005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83080" y="2971800"/>
            <a:ext cx="6766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 mil/mês · candidaturas às creches feitas pela plataforma · 1.500 creches com vagas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8229600" cy="667512"/>
          </a:xfrm>
          <a:prstGeom prst="roundRect">
            <a:avLst>
              <a:gd name="adj" fmla="val 9589"/>
            </a:avLst>
          </a:prstGeom>
          <a:solidFill>
            <a:srgbClr val="FFF1E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749040"/>
            <a:ext cx="1005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783080" y="3749040"/>
            <a:ext cx="6766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dos pais em busca ativa a usar o creches.app · 4.000+ equipamentos · financiamento diversificado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os princípios mantêm-se por estatuto: gratuito para sempre, sem publicidade, sem venda de dados.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23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9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Resumindo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2697480" cy="1828800"/>
          </a:xfrm>
          <a:prstGeom prst="roundRect">
            <a:avLst>
              <a:gd name="adj" fmla="val 4500"/>
            </a:avLst>
          </a:prstGeom>
          <a:solidFill>
            <a:srgbClr val="3A3168"/>
          </a:solidFill>
          <a:ln/>
        </p:spPr>
      </p:sp>
      <p:sp>
        <p:nvSpPr>
          <p:cNvPr id="4" name="Shape 2"/>
          <p:cNvSpPr/>
          <p:nvPr/>
        </p:nvSpPr>
        <p:spPr>
          <a:xfrm>
            <a:off x="1600200" y="1481328"/>
            <a:ext cx="502920" cy="502920"/>
          </a:xfrm>
          <a:prstGeom prst="ellipse">
            <a:avLst/>
          </a:prstGeom>
          <a:solidFill>
            <a:srgbClr val="4A4180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14630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👥</a:t>
            </a:r>
            <a:endParaRPr lang="en-US" sz="198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9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Equipa de 5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deixar de ser um projeto de uma pessoa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325880"/>
            <a:ext cx="2697480" cy="1828800"/>
          </a:xfrm>
          <a:prstGeom prst="roundRect">
            <a:avLst>
              <a:gd name="adj" fmla="val 4500"/>
            </a:avLst>
          </a:prstGeom>
          <a:solidFill>
            <a:srgbClr val="3A3168"/>
          </a:solidFill>
          <a:ln/>
        </p:spPr>
      </p:sp>
      <p:sp>
        <p:nvSpPr>
          <p:cNvPr id="9" name="Shape 7"/>
          <p:cNvSpPr/>
          <p:nvPr/>
        </p:nvSpPr>
        <p:spPr>
          <a:xfrm>
            <a:off x="4480560" y="1481328"/>
            <a:ext cx="502920" cy="502920"/>
          </a:xfrm>
          <a:prstGeom prst="ellipse">
            <a:avLst/>
          </a:prstGeom>
          <a:solidFill>
            <a:srgbClr val="4A4180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14630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💶</a:t>
            </a:r>
            <a:endParaRPr lang="en-US" sz="1980" dirty="0"/>
          </a:p>
        </p:txBody>
      </p:sp>
      <p:sp>
        <p:nvSpPr>
          <p:cNvPr id="11" name="Text 9"/>
          <p:cNvSpPr/>
          <p:nvPr/>
        </p:nvSpPr>
        <p:spPr>
          <a:xfrm>
            <a:off x="3383280" y="21031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9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~€300 mil/ano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66160" y="2514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faseado, condicionado a metas — €2,57M em 5 anos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1325880"/>
            <a:ext cx="2697480" cy="1828800"/>
          </a:xfrm>
          <a:prstGeom prst="roundRect">
            <a:avLst>
              <a:gd name="adj" fmla="val 4500"/>
            </a:avLst>
          </a:prstGeom>
          <a:solidFill>
            <a:srgbClr val="3A3168"/>
          </a:solidFill>
          <a:ln/>
        </p:spPr>
      </p:sp>
      <p:sp>
        <p:nvSpPr>
          <p:cNvPr id="14" name="Shape 12"/>
          <p:cNvSpPr/>
          <p:nvPr/>
        </p:nvSpPr>
        <p:spPr>
          <a:xfrm>
            <a:off x="7360920" y="1481328"/>
            <a:ext cx="502920" cy="502920"/>
          </a:xfrm>
          <a:prstGeom prst="ellipse">
            <a:avLst/>
          </a:prstGeom>
          <a:solidFill>
            <a:srgbClr val="4A418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14630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🚪</a:t>
            </a:r>
            <a:endParaRPr lang="en-US" sz="1980" dirty="0"/>
          </a:p>
        </p:txBody>
      </p:sp>
      <p:sp>
        <p:nvSpPr>
          <p:cNvPr id="16" name="Text 14"/>
          <p:cNvSpPr/>
          <p:nvPr/>
        </p:nvSpPr>
        <p:spPr>
          <a:xfrm>
            <a:off x="6263640" y="21031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9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portas abertas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46520" y="2514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Social, câmaras, outras fundações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47472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«O produto está provado. A dor é real e cresce todos os anos.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estes três apoios, em 5 anos procurar creche em Portugal = abrir o creches.app.»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572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🍼 creches.app · Joaquim Cabral · geral@creches.app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Creches.app — O que preciso para crescer</dc:title>
  <dc:subject>PptxGenJS Presentation</dc:subject>
  <dc:creator>Joaquim Cabral</dc:creator>
  <cp:lastModifiedBy>Joaquim Cabral</cp:lastModifiedBy>
  <cp:revision>1</cp:revision>
  <dcterms:created xsi:type="dcterms:W3CDTF">2026-07-03T22:07:10Z</dcterms:created>
  <dcterms:modified xsi:type="dcterms:W3CDTF">2026-07-03T22:07:10Z</dcterms:modified>
</cp:coreProperties>
</file>