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de visão — sem números financeiros. Objetivo: fazer a Fundação ver o que isto pode ser e sentir que falta pouco para lá chegar.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datas nem euros de propósito — os horizontes são sequência lógica. Se perguntarem prazos/custos: «tenho um plano detalhado de 5 anos, posso partilhar a seguir».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108960"/>
          </a:xfrm>
          <a:prstGeom prst="ellipse">
            <a:avLst/>
          </a:prstGeom>
          <a:solidFill>
            <a:srgbClr val="FFE2E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371600"/>
            <a:ext cx="3657600" cy="2743200"/>
          </a:xfrm>
          <a:prstGeom prst="ellipse">
            <a:avLst/>
          </a:prstGeom>
          <a:solidFill>
            <a:srgbClr val="D9F2E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4206240"/>
            <a:ext cx="4206240" cy="2926080"/>
          </a:xfrm>
          <a:prstGeom prst="ellipse">
            <a:avLst/>
          </a:prstGeom>
          <a:solidFill>
            <a:srgbClr val="FFF1D6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68580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🍼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Creches.app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Encontrar creche </a:t>
            </a:r>
            <a:pPr algn="ctr" indent="0" marL="0">
              <a:buNone/>
            </a:pPr>
            <a:r>
              <a:rPr lang="en-US" sz="22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sem perder a cabeça</a:t>
            </a:r>
            <a:pPr algn="ctr" indent="0" marL="0">
              <a:buNone/>
            </a:pPr>
            <a:r>
              <a:rPr lang="en-US" sz="22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 — para todas as famílias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Como imagino este projeto — e o que ele pode vir a ser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39776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DEF5E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3977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💛 Gratuito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39776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E2EC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977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🚫 Sem anúncios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37160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Joaquim Cabral · Julho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3474720" cy="2743200"/>
          </a:xfrm>
          <a:prstGeom prst="ellipse">
            <a:avLst/>
          </a:prstGeom>
          <a:solidFill>
            <a:srgbClr val="DEF5E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463040"/>
            <a:ext cx="3474720" cy="2743200"/>
          </a:xfrm>
          <a:prstGeom prst="ellipse">
            <a:avLst/>
          </a:prstGeom>
          <a:solidFill>
            <a:srgbClr val="ECE4F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Nasceu de uma necessidade de pai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 tornou-se, em meses, o mapa de creches mais completo de Portugal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20240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👶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«À espera do meu primeiro filho, percebi que procurar creche em Portugal era telefonar às cegas, listas de espera opacas e zero comparação. Então construí a ferramenta que gostava de ter encontrado.»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444752"/>
            <a:ext cx="493776" cy="493776"/>
          </a:xfrm>
          <a:prstGeom prst="ellipse">
            <a:avLst/>
          </a:prstGeom>
          <a:solidFill>
            <a:srgbClr val="D9F2EF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426464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🗺</a:t>
            </a:r>
            <a:endParaRPr lang="en-US" sz="1836" dirty="0"/>
          </a:p>
        </p:txBody>
      </p:sp>
      <p:sp>
        <p:nvSpPr>
          <p:cNvPr id="12" name="Text 10"/>
          <p:cNvSpPr/>
          <p:nvPr/>
        </p:nvSpPr>
        <p:spPr>
          <a:xfrm>
            <a:off x="5486400" y="138074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2.800+ creches num único mapa — IPSS, públicas e privadas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167128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4608" y="2286000"/>
            <a:ext cx="493776" cy="493776"/>
          </a:xfrm>
          <a:prstGeom prst="ellipse">
            <a:avLst/>
          </a:prstGeom>
          <a:solidFill>
            <a:srgbClr val="FFE3D2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2267712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🧮</a:t>
            </a:r>
            <a:endParaRPr lang="en-US" sz="1836" dirty="0"/>
          </a:p>
        </p:txBody>
      </p:sp>
      <p:sp>
        <p:nvSpPr>
          <p:cNvPr id="16" name="Text 14"/>
          <p:cNvSpPr/>
          <p:nvPr/>
        </p:nvSpPr>
        <p:spPr>
          <a:xfrm>
            <a:off x="5486400" y="222199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Calculadora de mensalidades e comparador lado-a-lado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3008376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3127248"/>
            <a:ext cx="493776" cy="493776"/>
          </a:xfrm>
          <a:prstGeom prst="ellipse">
            <a:avLst/>
          </a:prstGeom>
          <a:solidFill>
            <a:srgbClr val="DEF5E1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3108960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🟢</a:t>
            </a:r>
            <a:endParaRPr lang="en-US" sz="1836" dirty="0"/>
          </a:p>
        </p:txBody>
      </p:sp>
      <p:sp>
        <p:nvSpPr>
          <p:cNvPr id="20" name="Text 18"/>
          <p:cNvSpPr/>
          <p:nvPr/>
        </p:nvSpPr>
        <p:spPr>
          <a:xfrm>
            <a:off x="5486400" y="306324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Vagas em tempo real — 1.ª ferramenta do género no país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3849624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3968496"/>
            <a:ext cx="493776" cy="493776"/>
          </a:xfrm>
          <a:prstGeom prst="ellipse">
            <a:avLst/>
          </a:prstGeom>
          <a:solidFill>
            <a:srgbClr val="ECE4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3950208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📰</a:t>
            </a:r>
            <a:endParaRPr lang="en-US" sz="1836" dirty="0"/>
          </a:p>
        </p:txBody>
      </p:sp>
      <p:sp>
        <p:nvSpPr>
          <p:cNvPr id="24" name="Text 22"/>
          <p:cNvSpPr/>
          <p:nvPr/>
        </p:nvSpPr>
        <p:spPr>
          <a:xfrm>
            <a:off x="5486400" y="390448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NiT, Público e 1.º lugar nas respostas do Gemini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108960"/>
          </a:xfrm>
          <a:prstGeom prst="ellipse">
            <a:avLst/>
          </a:prstGeom>
          <a:solidFill>
            <a:srgbClr val="FFE2E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371600"/>
            <a:ext cx="3657600" cy="2743200"/>
          </a:xfrm>
          <a:prstGeom prst="ellipse">
            <a:avLst/>
          </a:prstGeom>
          <a:solidFill>
            <a:srgbClr val="D9F2E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4206240"/>
            <a:ext cx="4206240" cy="2926080"/>
          </a:xfrm>
          <a:prstGeom prst="ellipse">
            <a:avLst/>
          </a:prstGeom>
          <a:solidFill>
            <a:srgbClr val="FFF1D6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imagino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Procurar creche em Portugal = abrir o creches.app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52144" y="2148840"/>
            <a:ext cx="566928" cy="566928"/>
          </a:xfrm>
          <a:prstGeom prst="ellipse">
            <a:avLst/>
          </a:prstGeom>
          <a:solidFill>
            <a:srgbClr val="D9F2EF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13055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dirty="0">
                <a:solidFill>
                  <a:srgbClr val="000000"/>
                </a:solidFill>
              </a:rPr>
              <a:t>🔎</a:t>
            </a:r>
            <a:endParaRPr lang="en-US" sz="2108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Descobrir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Todas as creches perto de casa, com preços e idades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06040" y="19659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00984" y="2148840"/>
            <a:ext cx="566928" cy="566928"/>
          </a:xfrm>
          <a:prstGeom prst="ellipse">
            <a:avLst/>
          </a:prstGeom>
          <a:solidFill>
            <a:srgbClr val="FFE3D2"/>
          </a:solidFill>
          <a:ln/>
        </p:spPr>
      </p:sp>
      <p:sp>
        <p:nvSpPr>
          <p:cNvPr id="14" name="Text 12"/>
          <p:cNvSpPr/>
          <p:nvPr/>
        </p:nvSpPr>
        <p:spPr>
          <a:xfrm>
            <a:off x="3255264" y="213055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dirty="0">
                <a:solidFill>
                  <a:srgbClr val="000000"/>
                </a:solidFill>
              </a:rPr>
              <a:t>⚖️</a:t>
            </a:r>
            <a:endParaRPr lang="en-US" sz="2108" dirty="0"/>
          </a:p>
        </p:txBody>
      </p:sp>
      <p:sp>
        <p:nvSpPr>
          <p:cNvPr id="15" name="Text 13"/>
          <p:cNvSpPr/>
          <p:nvPr/>
        </p:nvSpPr>
        <p:spPr>
          <a:xfrm>
            <a:off x="2606040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Comparar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32004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Lado a lado, com avaliações de outros pais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9659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9824" y="2148840"/>
            <a:ext cx="566928" cy="566928"/>
          </a:xfrm>
          <a:prstGeom prst="ellipse">
            <a:avLst/>
          </a:prstGeom>
          <a:solidFill>
            <a:srgbClr val="DEF5E1"/>
          </a:solidFill>
          <a:ln/>
        </p:spPr>
      </p:sp>
      <p:sp>
        <p:nvSpPr>
          <p:cNvPr id="19" name="Text 17"/>
          <p:cNvSpPr/>
          <p:nvPr/>
        </p:nvSpPr>
        <p:spPr>
          <a:xfrm>
            <a:off x="5404104" y="213055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dirty="0">
                <a:solidFill>
                  <a:srgbClr val="000000"/>
                </a:solidFill>
              </a:rPr>
              <a:t>🔔</a:t>
            </a:r>
            <a:endParaRPr lang="en-US" sz="2108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Saber da vaga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32004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Notificação no telemóvel: «abriu vaga a 800 m»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03720" y="19659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98664" y="2148840"/>
            <a:ext cx="566928" cy="566928"/>
          </a:xfrm>
          <a:prstGeom prst="ellipse">
            <a:avLst/>
          </a:prstGeom>
          <a:solidFill>
            <a:srgbClr val="FFE2EC"/>
          </a:solidFill>
          <a:ln/>
        </p:spPr>
      </p:sp>
      <p:sp>
        <p:nvSpPr>
          <p:cNvPr id="24" name="Text 22"/>
          <p:cNvSpPr/>
          <p:nvPr/>
        </p:nvSpPr>
        <p:spPr>
          <a:xfrm>
            <a:off x="7552944" y="213055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dirty="0">
                <a:solidFill>
                  <a:srgbClr val="000000"/>
                </a:solidFill>
              </a:rPr>
              <a:t>✍️</a:t>
            </a:r>
            <a:endParaRPr lang="en-US" sz="2108" dirty="0"/>
          </a:p>
        </p:txBody>
      </p:sp>
      <p:sp>
        <p:nvSpPr>
          <p:cNvPr id="25" name="Text 23"/>
          <p:cNvSpPr/>
          <p:nvPr/>
        </p:nvSpPr>
        <p:spPr>
          <a:xfrm>
            <a:off x="6903720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Candidatar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32004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Inscrição feita na app, com resposta acompanhada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6B9D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Hoje já fazemos bem os dois primeiros. A visão é completar a jornada inteira.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3474720" cy="2743200"/>
          </a:xfrm>
          <a:prstGeom prst="ellipse">
            <a:avLst/>
          </a:prstGeom>
          <a:solidFill>
            <a:srgbClr val="DEF5E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463040"/>
            <a:ext cx="3474720" cy="2743200"/>
          </a:xfrm>
          <a:prstGeom prst="ellipse">
            <a:avLst/>
          </a:prstGeom>
          <a:solidFill>
            <a:srgbClr val="ECE4F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Para os pais: do stress à confiança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 que muda na vida de quem procura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6908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54480"/>
            <a:ext cx="512064" cy="512064"/>
          </a:xfrm>
          <a:prstGeom prst="ellipse">
            <a:avLst/>
          </a:prstGeom>
          <a:solidFill>
            <a:srgbClr val="D9F2EF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536192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dirty="0">
                <a:solidFill>
                  <a:srgbClr val="000000"/>
                </a:solidFill>
              </a:rPr>
              <a:t>📱</a:t>
            </a:r>
            <a:endParaRPr lang="en-US" sz="1904" dirty="0"/>
          </a:p>
        </p:txBody>
      </p:sp>
      <p:sp>
        <p:nvSpPr>
          <p:cNvPr id="9" name="Text 7"/>
          <p:cNvSpPr/>
          <p:nvPr/>
        </p:nvSpPr>
        <p:spPr>
          <a:xfrm>
            <a:off x="1298448" y="1499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Uma app no bolso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98448" y="188366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Instalada no telemóvel, com as creches favoritas, o processo de cada uma e alertas de vaga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06908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3752" y="1554480"/>
            <a:ext cx="512064" cy="512064"/>
          </a:xfrm>
          <a:prstGeom prst="ellipse">
            <a:avLst/>
          </a:prstGeom>
          <a:solidFill>
            <a:srgbClr val="FFF1D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36192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dirty="0">
                <a:solidFill>
                  <a:srgbClr val="000000"/>
                </a:solidFill>
              </a:rPr>
              <a:t>⭐</a:t>
            </a:r>
            <a:endParaRPr lang="en-US" sz="1904" dirty="0"/>
          </a:p>
        </p:txBody>
      </p:sp>
      <p:sp>
        <p:nvSpPr>
          <p:cNvPr id="14" name="Text 12"/>
          <p:cNvSpPr/>
          <p:nvPr/>
        </p:nvSpPr>
        <p:spPr>
          <a:xfrm>
            <a:off x="5550408" y="1499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Avaliações de quem já lá tem filhos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550408" y="188366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Pais a ajudar pais — moderado, transparente, sem astroturfing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6908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154680"/>
            <a:ext cx="512064" cy="512064"/>
          </a:xfrm>
          <a:prstGeom prst="ellipse">
            <a:avLst/>
          </a:prstGeom>
          <a:solidFill>
            <a:srgbClr val="FFE2EC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136392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dirty="0">
                <a:solidFill>
                  <a:srgbClr val="000000"/>
                </a:solidFill>
              </a:rPr>
              <a:t>🍼</a:t>
            </a:r>
            <a:endParaRPr lang="en-US" sz="1904" dirty="0"/>
          </a:p>
        </p:txBody>
      </p:sp>
      <p:sp>
        <p:nvSpPr>
          <p:cNvPr id="19" name="Text 17"/>
          <p:cNvSpPr/>
          <p:nvPr/>
        </p:nvSpPr>
        <p:spPr>
          <a:xfrm>
            <a:off x="1298448" y="30998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Creche Feliz descomplicado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98448" y="348386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Saber logo se têm direito, que creches aderem e como candidatar — sem decifrar portarias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406908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73752" y="3154680"/>
            <a:ext cx="512064" cy="512064"/>
          </a:xfrm>
          <a:prstGeom prst="ellipse">
            <a:avLst/>
          </a:prstGeom>
          <a:solidFill>
            <a:srgbClr val="ECE4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36392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dirty="0">
                <a:solidFill>
                  <a:srgbClr val="000000"/>
                </a:solidFill>
              </a:rPr>
              <a:t>🤝</a:t>
            </a:r>
            <a:endParaRPr lang="en-US" sz="1904" dirty="0"/>
          </a:p>
        </p:txBody>
      </p:sp>
      <p:sp>
        <p:nvSpPr>
          <p:cNvPr id="24" name="Text 22"/>
          <p:cNvSpPr/>
          <p:nvPr/>
        </p:nvSpPr>
        <p:spPr>
          <a:xfrm>
            <a:off x="5550408" y="30998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Partilha com o outro pai/mãe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550408" y="348386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decisão é a dois: listas partilhadas, comparação, notas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108960"/>
          </a:xfrm>
          <a:prstGeom prst="ellipse">
            <a:avLst/>
          </a:prstGeom>
          <a:solidFill>
            <a:srgbClr val="FFE2E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371600"/>
            <a:ext cx="3657600" cy="2743200"/>
          </a:xfrm>
          <a:prstGeom prst="ellipse">
            <a:avLst/>
          </a:prstGeom>
          <a:solidFill>
            <a:srgbClr val="D9F2E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4206240"/>
            <a:ext cx="4206240" cy="2926080"/>
          </a:xfrm>
          <a:prstGeom prst="ellipse">
            <a:avLst/>
          </a:prstGeom>
          <a:solidFill>
            <a:srgbClr val="FFF1D6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Para as creches: um balcão digital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 lado que torna o mapa vivo — cada creche com conta ativa é informação fresca para todos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563624"/>
            <a:ext cx="493776" cy="493776"/>
          </a:xfrm>
          <a:prstGeom prst="ellipse">
            <a:avLst/>
          </a:prstGeom>
          <a:solidFill>
            <a:srgbClr val="D9F2EF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545336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🔑</a:t>
            </a:r>
            <a:endParaRPr lang="en-US" sz="1836" dirty="0"/>
          </a:p>
        </p:txBody>
      </p:sp>
      <p:sp>
        <p:nvSpPr>
          <p:cNvPr id="10" name="Text 8"/>
          <p:cNvSpPr/>
          <p:nvPr/>
        </p:nvSpPr>
        <p:spPr>
          <a:xfrm>
            <a:off x="1298448" y="150876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Login próprio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77640" y="150876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Cada creche gere a sua ficha: fotos, preços, horários, projeto pedagógico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368296"/>
            <a:ext cx="493776" cy="493776"/>
          </a:xfrm>
          <a:prstGeom prst="ellipse">
            <a:avLst/>
          </a:prstGeom>
          <a:solidFill>
            <a:srgbClr val="DEF5E1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350008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🟢</a:t>
            </a:r>
            <a:endParaRPr lang="en-US" sz="1836" dirty="0"/>
          </a:p>
        </p:txBody>
      </p:sp>
      <p:sp>
        <p:nvSpPr>
          <p:cNvPr id="15" name="Text 13"/>
          <p:cNvSpPr/>
          <p:nvPr/>
        </p:nvSpPr>
        <p:spPr>
          <a:xfrm>
            <a:off x="1298448" y="231343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Reportar vagas em 30 segundos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231343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Um clique por sala — e todos os pais da freguesia ficam a saber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" y="3172968"/>
            <a:ext cx="493776" cy="493776"/>
          </a:xfrm>
          <a:prstGeom prst="ellipse">
            <a:avLst/>
          </a:prstGeom>
          <a:solidFill>
            <a:srgbClr val="FFE3D2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" y="3154680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📥</a:t>
            </a:r>
            <a:endParaRPr lang="en-US" sz="1836" dirty="0"/>
          </a:p>
        </p:txBody>
      </p:sp>
      <p:sp>
        <p:nvSpPr>
          <p:cNvPr id="20" name="Text 18"/>
          <p:cNvSpPr/>
          <p:nvPr/>
        </p:nvSpPr>
        <p:spPr>
          <a:xfrm>
            <a:off x="1298448" y="311810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Receber candidaturas organizadas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77640" y="311810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Fim das 50 chamadas por dia — pedidos chegam completos e ordenados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77056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3977640"/>
            <a:ext cx="493776" cy="493776"/>
          </a:xfrm>
          <a:prstGeom prst="ellipse">
            <a:avLst/>
          </a:prstGeom>
          <a:solidFill>
            <a:srgbClr val="FFE2EC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3959352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📣</a:t>
            </a:r>
            <a:endParaRPr lang="en-US" sz="1836" dirty="0"/>
          </a:p>
        </p:txBody>
      </p:sp>
      <p:sp>
        <p:nvSpPr>
          <p:cNvPr id="25" name="Text 23"/>
          <p:cNvSpPr/>
          <p:nvPr/>
        </p:nvSpPr>
        <p:spPr>
          <a:xfrm>
            <a:off x="1298448" y="392277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Visibilidade merecida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77640" y="392277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As boas creches deixam de depender do passa-palavra para encher salas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6B9D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2.800 creches no mapa → o objetivo é tê-las com conta ativa, uma a uma.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3474720" cy="2743200"/>
          </a:xfrm>
          <a:prstGeom prst="ellipse">
            <a:avLst/>
          </a:prstGeom>
          <a:solidFill>
            <a:srgbClr val="DEF5E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463040"/>
            <a:ext cx="3474720" cy="2743200"/>
          </a:xfrm>
          <a:prstGeom prst="ellipse">
            <a:avLst/>
          </a:prstGeom>
          <a:solidFill>
            <a:srgbClr val="ECE4F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Para o país: infraestrutura cívica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Quando pais e creches se ligam na mesma plataforma, Portugal ganha uma coisa nova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6192" y="1645920"/>
            <a:ext cx="548640" cy="548640"/>
          </a:xfrm>
          <a:prstGeom prst="ellipse">
            <a:avLst/>
          </a:prstGeom>
          <a:solidFill>
            <a:srgbClr val="D9F2EF"/>
          </a:solidFill>
          <a:ln/>
        </p:spPr>
      </p:sp>
      <p:sp>
        <p:nvSpPr>
          <p:cNvPr id="8" name="Text 6"/>
          <p:cNvSpPr/>
          <p:nvPr/>
        </p:nvSpPr>
        <p:spPr>
          <a:xfrm>
            <a:off x="1490472" y="1627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000000"/>
                </a:solidFill>
              </a:rPr>
              <a:t>📊</a:t>
            </a:r>
            <a:endParaRPr lang="en-US" sz="204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retrato real das creches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017520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Onde faltam vagas, quanto custam, onde o Creche Feliz não chega — dados abertos, para todos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6552" y="1645920"/>
            <a:ext cx="548640" cy="548640"/>
          </a:xfrm>
          <a:prstGeom prst="ellipse">
            <a:avLst/>
          </a:prstGeom>
          <a:solidFill>
            <a:srgbClr val="FFF1D6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1627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000000"/>
                </a:solidFill>
              </a:rPr>
              <a:t>📰</a:t>
            </a:r>
            <a:endParaRPr lang="en-US" sz="204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«Estado das Creches»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38728" y="3017520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Relatório regular que vira notícia e informa decisões públicas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6912" y="1645920"/>
            <a:ext cx="548640" cy="548640"/>
          </a:xfrm>
          <a:prstGeom prst="ellipse">
            <a:avLst/>
          </a:prstGeom>
          <a:solidFill>
            <a:srgbClr val="ECE4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51192" y="1627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000000"/>
                </a:solidFill>
              </a:rPr>
              <a:t>🏛</a:t>
            </a:r>
            <a:endParaRPr lang="en-US" sz="204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Parceiro do Estado, não rival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3017520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Carta Social viva, câmaras com dados atualizados, Segurança Social com um canal para as famílias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 acesso a creche decide se as mães voltam ao trabalho e onde as famílias vivem. Isto é política de natalidade aplicada.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108960"/>
          </a:xfrm>
          <a:prstGeom prst="ellipse">
            <a:avLst/>
          </a:prstGeom>
          <a:solidFill>
            <a:srgbClr val="FFE2E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371600"/>
            <a:ext cx="3657600" cy="2743200"/>
          </a:xfrm>
          <a:prstGeom prst="ellipse">
            <a:avLst/>
          </a:prstGeom>
          <a:solidFill>
            <a:srgbClr val="D9F2E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4206240"/>
            <a:ext cx="4206240" cy="2926080"/>
          </a:xfrm>
          <a:prstGeom prst="ellipse">
            <a:avLst/>
          </a:prstGeom>
          <a:solidFill>
            <a:srgbClr val="FFF1D6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Para lá chegar, preciso de equipa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equipa que imagino — pequena, no terreno, cada pessoa a fazer o que hoje fica por fazer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00200"/>
            <a:ext cx="493776" cy="493776"/>
          </a:xfrm>
          <a:prstGeom prst="ellipse">
            <a:avLst/>
          </a:prstGeom>
          <a:solidFill>
            <a:srgbClr val="D9F2EF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581912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💻</a:t>
            </a:r>
            <a:endParaRPr lang="en-US" sz="1836" dirty="0"/>
          </a:p>
        </p:txBody>
      </p:sp>
      <p:sp>
        <p:nvSpPr>
          <p:cNvPr id="10" name="Text 8"/>
          <p:cNvSpPr/>
          <p:nvPr/>
        </p:nvSpPr>
        <p:spPr>
          <a:xfrm>
            <a:off x="1298448" y="15270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Developer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91840" y="152704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App nativa, notificações de vaga, candidaturas, escala — hoje o desenvolvimento pára quando eu paro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EF5E1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44144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423160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🚗</a:t>
            </a:r>
            <a:endParaRPr lang="en-US" sz="1836" dirty="0"/>
          </a:p>
        </p:txBody>
      </p:sp>
      <p:sp>
        <p:nvSpPr>
          <p:cNvPr id="15" name="Text 13"/>
          <p:cNvSpPr/>
          <p:nvPr/>
        </p:nvSpPr>
        <p:spPr>
          <a:xfrm>
            <a:off x="1298448" y="23682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Ligação às creches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91840" y="2368296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pessoa que visita e telefona às creches, uma a uma, e as convida a ativar a conta e reportar vagas — o trabalho mais importante da visão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" y="3282696"/>
            <a:ext cx="493776" cy="493776"/>
          </a:xfrm>
          <a:prstGeom prst="ellipse">
            <a:avLst/>
          </a:prstGeom>
          <a:solidFill>
            <a:srgbClr val="FFE2EC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" y="3264408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📣</a:t>
            </a:r>
            <a:endParaRPr lang="en-US" sz="1836" dirty="0"/>
          </a:p>
        </p:txBody>
      </p:sp>
      <p:sp>
        <p:nvSpPr>
          <p:cNvPr id="20" name="Text 18"/>
          <p:cNvSpPr/>
          <p:nvPr/>
        </p:nvSpPr>
        <p:spPr>
          <a:xfrm>
            <a:off x="1298448" y="320954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Comunicação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91840" y="3209544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Imprensa, redes, pediatras e maternidades — estar onde os pais estão antes de precisarem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00507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4123944"/>
            <a:ext cx="493776" cy="493776"/>
          </a:xfrm>
          <a:prstGeom prst="ellipse">
            <a:avLst/>
          </a:prstGeom>
          <a:solidFill>
            <a:srgbClr val="ECE4FF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4105656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📊</a:t>
            </a:r>
            <a:endParaRPr lang="en-US" sz="1836" dirty="0"/>
          </a:p>
        </p:txBody>
      </p:sp>
      <p:sp>
        <p:nvSpPr>
          <p:cNvPr id="25" name="Text 23"/>
          <p:cNvSpPr/>
          <p:nvPr/>
        </p:nvSpPr>
        <p:spPr>
          <a:xfrm>
            <a:off x="1298448" y="40507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Dados (parcial)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91840" y="4050792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Carta Social, câmaras, qualidade do dataset — a confiança vive da precisão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4800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F6B9D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Eu continuo como fundador, rosto e produto — a alma do projeto não se delega.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3474720" cy="2743200"/>
          </a:xfrm>
          <a:prstGeom prst="ellipse">
            <a:avLst/>
          </a:prstGeom>
          <a:solidFill>
            <a:srgbClr val="DEF5E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463040"/>
            <a:ext cx="3474720" cy="2743200"/>
          </a:xfrm>
          <a:prstGeom prst="ellipse">
            <a:avLst/>
          </a:prstGeom>
          <a:solidFill>
            <a:srgbClr val="ECE4F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caminho que vejo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Três horizontes — cada um constrói sobre o anterior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636776"/>
            <a:ext cx="475488" cy="475488"/>
          </a:xfrm>
          <a:prstGeom prst="ellipse">
            <a:avLst/>
          </a:prstGeom>
          <a:solidFill>
            <a:srgbClr val="FF9F6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Ligar as creches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5087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Equipa no terreno a ativar contas, vagas em tempo real a ganhar massa crítica, app nativa no bolso dos pais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2688336"/>
            <a:ext cx="475488" cy="475488"/>
          </a:xfrm>
          <a:prstGeom prst="ellipse">
            <a:avLst/>
          </a:prstGeom>
          <a:solidFill>
            <a:srgbClr val="FF6B9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Completar a jornada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25603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Avaliações de pais, candidaturas pela plataforma, parcerias com câmaras e Segurança Social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739896"/>
            <a:ext cx="475488" cy="475488"/>
          </a:xfrm>
          <a:prstGeom prst="ellipse">
            <a:avLst/>
          </a:prstGeom>
          <a:solidFill>
            <a:srgbClr val="5EC0B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Ser o hábito nacional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36118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Procurar creche = abrir o creches.app. Dados abertos como bem público, extensão ao pré-escolar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108960"/>
          </a:xfrm>
          <a:prstGeom prst="ellipse">
            <a:avLst/>
          </a:prstGeom>
          <a:solidFill>
            <a:srgbClr val="FFE2E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371600"/>
            <a:ext cx="3657600" cy="2743200"/>
          </a:xfrm>
          <a:prstGeom prst="ellipse">
            <a:avLst/>
          </a:prstGeom>
          <a:solidFill>
            <a:srgbClr val="D9F2E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4206240"/>
            <a:ext cx="4206240" cy="2926080"/>
          </a:xfrm>
          <a:prstGeom prst="ellipse">
            <a:avLst/>
          </a:prstGeom>
          <a:solidFill>
            <a:srgbClr val="FFF1D6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6400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🍼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isto pode vir a ser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plataforma que todas as famílias portuguesas usam para encontrar creche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gratuita, de confiança, feita por quem viveu o problema.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32918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EF5E1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291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💛 Gratuito para sempre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32918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FFE2EC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3291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🚫 Sem anúncios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06440" y="32918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9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3291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📂 Dados abertos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produto existe. Os pais já cá estão. Falta a equipa para chegar a todos.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creches.app · Joaquim Cabral · geral@creches.app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Creches.app — A visão</dc:title>
  <dc:subject>PptxGenJS Presentation</dc:subject>
  <dc:creator>Joaquim Cabral</dc:creator>
  <cp:lastModifiedBy>Joaquim Cabral</cp:lastModifiedBy>
  <cp:revision>1</cp:revision>
  <dcterms:created xsi:type="dcterms:W3CDTF">2026-07-04T10:08:15Z</dcterms:created>
  <dcterms:modified xsi:type="dcterms:W3CDTF">2026-07-04T10:08:15Z</dcterms:modified>
</cp:coreProperties>
</file>