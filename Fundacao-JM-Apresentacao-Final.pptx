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Arco: já provámos → o momento é agora → modelo em 2 tempos → equipa mínima → pedido (dinheiro + smart money) → metas.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108960"/>
          </a:xfrm>
          <a:prstGeom prst="ellipse">
            <a:avLst/>
          </a:prstGeom>
          <a:solidFill>
            <a:srgbClr val="FFE2E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371600"/>
            <a:ext cx="3657600" cy="2743200"/>
          </a:xfrm>
          <a:prstGeom prst="ellipse">
            <a:avLst/>
          </a:prstGeom>
          <a:solidFill>
            <a:srgbClr val="D9F2E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4206240"/>
            <a:ext cx="4206240" cy="2926080"/>
          </a:xfrm>
          <a:prstGeom prst="ellipse">
            <a:avLst/>
          </a:prstGeom>
          <a:solidFill>
            <a:srgbClr val="FFF1D6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931920" y="6400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🍼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Creches.app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9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Proposta à Fundação Jerónimo Martins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063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Um boost para arrancar · um caminho claro para a autonomia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94560" y="388620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DEF5E1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3886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💛 Grátis p/ pais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0" y="388620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E2EC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3886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🚫 Sem anúncios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0" y="388620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D9F2E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3886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🌱 Sustentável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71600" y="4526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Joaquim Cabral · Julho 2026 · Confidencial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3474720" cy="2743200"/>
          </a:xfrm>
          <a:prstGeom prst="ellipse">
            <a:avLst/>
          </a:prstGeom>
          <a:solidFill>
            <a:srgbClr val="DEF5E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463040"/>
            <a:ext cx="3474720" cy="2743200"/>
          </a:xfrm>
          <a:prstGeom prst="ellipse">
            <a:avLst/>
          </a:prstGeom>
          <a:solidFill>
            <a:srgbClr val="ECE4FF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produto está provado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Construído por uma pessoa, sem financiamento — o capital vai escalar, não experimentar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813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9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2.800+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creches no mapa — o dataset mais completo do país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4813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C0B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500+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2084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famílias registadas e a crescer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4813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NiT · Público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55080" y="2084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imprensa nacional + 1.º no Gemini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154680"/>
            <a:ext cx="457200" cy="457200"/>
          </a:xfrm>
          <a:prstGeom prst="ellipse">
            <a:avLst/>
          </a:prstGeom>
          <a:solidFill>
            <a:srgbClr val="D9F2EF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3136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🗺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309981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Mapa + calculadora + comparador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3063240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3154680"/>
            <a:ext cx="457200" cy="457200"/>
          </a:xfrm>
          <a:prstGeom prst="ellipse">
            <a:avLst/>
          </a:prstGeom>
          <a:solidFill>
            <a:srgbClr val="DEF5E1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3136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🟢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0" y="309981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Vagas em tempo real — 1.ª em PT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" y="3931920"/>
            <a:ext cx="457200" cy="457200"/>
          </a:xfrm>
          <a:prstGeom prst="ellipse">
            <a:avLst/>
          </a:prstGeom>
          <a:solidFill>
            <a:srgbClr val="FFE3D2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3913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🏫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43000" y="387705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Painel das creches lançado (login, perfil, fotos)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0600" y="3840480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10328" y="3931920"/>
            <a:ext cx="457200" cy="457200"/>
          </a:xfrm>
          <a:prstGeom prst="ellipse">
            <a:avLst/>
          </a:prstGeom>
          <a:solidFill>
            <a:srgbClr val="FFE2EC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3913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🍼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486400" y="387705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Integração Creche Feliz completa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108960"/>
          </a:xfrm>
          <a:prstGeom prst="ellipse">
            <a:avLst/>
          </a:prstGeom>
          <a:solidFill>
            <a:srgbClr val="FFE2E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371600"/>
            <a:ext cx="3657600" cy="2743200"/>
          </a:xfrm>
          <a:prstGeom prst="ellipse">
            <a:avLst/>
          </a:prstGeom>
          <a:solidFill>
            <a:srgbClr val="D9F2E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4206240"/>
            <a:ext cx="4206240" cy="2926080"/>
          </a:xfrm>
          <a:prstGeom prst="ellipse">
            <a:avLst/>
          </a:prstGeom>
          <a:solidFill>
            <a:srgbClr val="FFF1D6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 o momento é agora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Mais bebés do que em toda a década — e um sistema opaco na corrida às vagas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6002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C0B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87.732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bebés em 2025 — máximo da década (INE)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6002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9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~250 mil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crianças 0-3 anos com direito a creche gratuita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6002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~50%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das que precisam ficam fora das vagas gratuitas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3429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Todos os anos, dezenas de milhares de famílias telefonam a 20 creches às cegas. Nós já começámos a resolver — falta escalar.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3474720" cy="2743200"/>
          </a:xfrm>
          <a:prstGeom prst="ellipse">
            <a:avLst/>
          </a:prstGeom>
          <a:solidFill>
            <a:srgbClr val="DEF5E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463040"/>
            <a:ext cx="3474720" cy="2743200"/>
          </a:xfrm>
          <a:prstGeom prst="ellipse">
            <a:avLst/>
          </a:prstGeom>
          <a:solidFill>
            <a:srgbClr val="ECE4FF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Um modelo em dois tempos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FJM financia a construção do ativo; o ativo financia a missão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605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9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TEMPO 1 · Ano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FJM financia (~€250 mil)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Equipa mínima + app nativa + 500 creches com conta + 100 mil visitas/mês. Sem receitas: é o laboratório onde validamos preços e produtos com betas gratuitas.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160520" cy="3108960"/>
          </a:xfrm>
          <a:prstGeom prst="roundRect">
            <a:avLst>
              <a:gd name="adj" fmla="val 3529"/>
            </a:avLst>
          </a:prstGeom>
          <a:solidFill>
            <a:srgbClr val="DEF5E1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508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3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TEMPO 2 · Ano 2+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 modelo autofinancia-se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Serviços PRO às creches, observatórios para câmaras, childcare benefit para empresas e produtos de dados agregados. A FJM passa a rede de segurança decrescente — nunca cliente cativo.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6B9D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Modelo deliberadamente aberto: os preços e o mix são hipóteses a validar no terreno — vamos aprender antes de fechar.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108960"/>
          </a:xfrm>
          <a:prstGeom prst="ellipse">
            <a:avLst/>
          </a:prstGeom>
          <a:solidFill>
            <a:srgbClr val="FFE2E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371600"/>
            <a:ext cx="3657600" cy="2743200"/>
          </a:xfrm>
          <a:prstGeom prst="ellipse">
            <a:avLst/>
          </a:prstGeom>
          <a:solidFill>
            <a:srgbClr val="D9F2E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4206240"/>
            <a:ext cx="4206240" cy="2926080"/>
          </a:xfrm>
          <a:prstGeom prst="ellipse">
            <a:avLst/>
          </a:prstGeom>
          <a:solidFill>
            <a:srgbClr val="FFF1D6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nos sustentamos (sem trair a missão)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Paga quem tem orçamento — nunca os pais; o ranking nunca está à venda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36192" y="1536192"/>
            <a:ext cx="548640" cy="548640"/>
          </a:xfrm>
          <a:prstGeom prst="ellipse">
            <a:avLst/>
          </a:prstGeom>
          <a:solidFill>
            <a:srgbClr val="D9F2EF"/>
          </a:solidFill>
          <a:ln/>
        </p:spPr>
      </p:sp>
      <p:sp>
        <p:nvSpPr>
          <p:cNvPr id="9" name="Text 7"/>
          <p:cNvSpPr/>
          <p:nvPr/>
        </p:nvSpPr>
        <p:spPr>
          <a:xfrm>
            <a:off x="1490472" y="151790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000000"/>
                </a:solidFill>
              </a:rPr>
              <a:t>🏫</a:t>
            </a:r>
            <a:endParaRPr lang="en-US" sz="204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Creches PRO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Gestão de lista de espera, candidaturas e comunicação. Perfil base grátis para sempre; paga-se por funcionalidades, nunca por visibilidade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16552" y="1536192"/>
            <a:ext cx="548640" cy="548640"/>
          </a:xfrm>
          <a:prstGeom prst="ellipse">
            <a:avLst/>
          </a:prstGeom>
          <a:solidFill>
            <a:srgbClr val="ECE4FF"/>
          </a:solidFill>
          <a:ln/>
        </p:spPr>
      </p:sp>
      <p:sp>
        <p:nvSpPr>
          <p:cNvPr id="14" name="Text 12"/>
          <p:cNvSpPr/>
          <p:nvPr/>
        </p:nvSpPr>
        <p:spPr>
          <a:xfrm>
            <a:off x="4370832" y="151790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000000"/>
                </a:solidFill>
              </a:rPr>
              <a:t>🏛</a:t>
            </a:r>
            <a:endParaRPr lang="en-US" sz="2040" dirty="0"/>
          </a:p>
        </p:txBody>
      </p:sp>
      <p:sp>
        <p:nvSpPr>
          <p:cNvPr id="15" name="Text 13"/>
          <p:cNvSpPr/>
          <p:nvPr/>
        </p:nvSpPr>
        <p:spPr>
          <a:xfrm>
            <a:off x="3337560" y="22128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Câmaras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260604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Observatório municipal: procura vs. oferta por freguesia — dados que nenhuma autarquia tem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96912" y="1536192"/>
            <a:ext cx="548640" cy="548640"/>
          </a:xfrm>
          <a:prstGeom prst="ellipse">
            <a:avLst/>
          </a:prstGeom>
          <a:solidFill>
            <a:srgbClr val="FFE3D2"/>
          </a:solidFill>
          <a:ln/>
        </p:spPr>
      </p:sp>
      <p:sp>
        <p:nvSpPr>
          <p:cNvPr id="19" name="Text 17"/>
          <p:cNvSpPr/>
          <p:nvPr/>
        </p:nvSpPr>
        <p:spPr>
          <a:xfrm>
            <a:off x="7251192" y="151790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000000"/>
                </a:solidFill>
              </a:rPr>
              <a:t>🏢</a:t>
            </a:r>
            <a:endParaRPr lang="en-US" sz="2040" dirty="0"/>
          </a:p>
        </p:txBody>
      </p:sp>
      <p:sp>
        <p:nvSpPr>
          <p:cNvPr id="20" name="Text 18"/>
          <p:cNvSpPr/>
          <p:nvPr/>
        </p:nvSpPr>
        <p:spPr>
          <a:xfrm>
            <a:off x="6217920" y="22128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Empresas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260604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Childcare benefit para colaboradores + dados agregados e anonimizados (nunca dados pessoais)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7A3D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Meta: break-even operacional no ano 2 · linhas vermelhas em estatuto: sem ads, sem venda de dados pessoais, sem pay-to-rank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3474720" cy="2743200"/>
          </a:xfrm>
          <a:prstGeom prst="ellipse">
            <a:avLst/>
          </a:prstGeom>
          <a:solidFill>
            <a:srgbClr val="DEF5E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463040"/>
            <a:ext cx="3474720" cy="2743200"/>
          </a:xfrm>
          <a:prstGeom prst="ellipse">
            <a:avLst/>
          </a:prstGeom>
          <a:solidFill>
            <a:srgbClr val="ECE4FF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 equipa mínima que faz isto acontecer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Três pessoas a tempo inteiro + freelancers — nem mais um euro do que o necessário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517904"/>
            <a:ext cx="493776" cy="493776"/>
          </a:xfrm>
          <a:prstGeom prst="ellipse">
            <a:avLst/>
          </a:prstGeom>
          <a:solidFill>
            <a:srgbClr val="FFE2EC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499616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👨‍🍼</a:t>
            </a:r>
            <a:endParaRPr lang="en-US" sz="1836" dirty="0"/>
          </a:p>
        </p:txBody>
      </p:sp>
      <p:sp>
        <p:nvSpPr>
          <p:cNvPr id="9" name="Text 7"/>
          <p:cNvSpPr/>
          <p:nvPr/>
        </p:nvSpPr>
        <p:spPr>
          <a:xfrm>
            <a:off x="1298448" y="146304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Joaquim (fundador)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0" y="1463040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Produto, parcerias, vendas B2G e rosto público — a tempo inteiro no projeto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21992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" y="2322576"/>
            <a:ext cx="493776" cy="493776"/>
          </a:xfrm>
          <a:prstGeom prst="ellipse">
            <a:avLst/>
          </a:prstGeom>
          <a:solidFill>
            <a:srgbClr val="D9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2304288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💻</a:t>
            </a:r>
            <a:endParaRPr lang="en-US" sz="1836" dirty="0"/>
          </a:p>
        </p:txBody>
      </p:sp>
      <p:sp>
        <p:nvSpPr>
          <p:cNvPr id="14" name="Text 12"/>
          <p:cNvSpPr/>
          <p:nvPr/>
        </p:nvSpPr>
        <p:spPr>
          <a:xfrm>
            <a:off x="1298448" y="226771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Developer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66160" y="2267712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App nativa com alertas de vaga, painel das creches à escala, produto PRO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26664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127248"/>
            <a:ext cx="493776" cy="493776"/>
          </a:xfrm>
          <a:prstGeom prst="ellipse">
            <a:avLst/>
          </a:prstGeom>
          <a:solidFill>
            <a:srgbClr val="DEF5E1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3108960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🚗</a:t>
            </a:r>
            <a:endParaRPr lang="en-US" sz="1836" dirty="0"/>
          </a:p>
        </p:txBody>
      </p:sp>
      <p:sp>
        <p:nvSpPr>
          <p:cNvPr id="19" name="Text 17"/>
          <p:cNvSpPr/>
          <p:nvPr/>
        </p:nvSpPr>
        <p:spPr>
          <a:xfrm>
            <a:off x="1298448" y="307238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Ligação às creches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566160" y="3072384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Visita e telefona às creches, ativa contas, recolhe feedback — o motor da rede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31336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3931920"/>
            <a:ext cx="493776" cy="493776"/>
          </a:xfrm>
          <a:prstGeom prst="ellipse">
            <a:avLst/>
          </a:prstGeom>
          <a:solidFill>
            <a:srgbClr val="ECE4FF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" y="3913632"/>
            <a:ext cx="585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36" dirty="0">
                <a:solidFill>
                  <a:srgbClr val="000000"/>
                </a:solidFill>
              </a:rPr>
              <a:t>🎨</a:t>
            </a:r>
            <a:endParaRPr lang="en-US" sz="1836" dirty="0"/>
          </a:p>
        </p:txBody>
      </p:sp>
      <p:sp>
        <p:nvSpPr>
          <p:cNvPr id="24" name="Text 22"/>
          <p:cNvSpPr/>
          <p:nvPr/>
        </p:nvSpPr>
        <p:spPr>
          <a:xfrm>
            <a:off x="1298448" y="387705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Freelancers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66160" y="3877056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Redes sociais, design e vídeo à tarefa — flexível, sem custo fixo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6B9D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Ano 1 completo: ~€250 mil (pessoas ~€165 mil · freelancers e marketing ~€33 mil · operação, legal e infra ~€28 mil · reserva ~€24 mil)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108960"/>
          </a:xfrm>
          <a:prstGeom prst="ellipse">
            <a:avLst/>
          </a:prstGeom>
          <a:solidFill>
            <a:srgbClr val="FFE2E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371600"/>
            <a:ext cx="3657600" cy="2743200"/>
          </a:xfrm>
          <a:prstGeom prst="ellipse">
            <a:avLst/>
          </a:prstGeom>
          <a:solidFill>
            <a:srgbClr val="D9F2E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4206240"/>
            <a:ext cx="4206240" cy="2926080"/>
          </a:xfrm>
          <a:prstGeom prst="ellipse">
            <a:avLst/>
          </a:prstGeom>
          <a:solidFill>
            <a:srgbClr val="FFF1D6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que peço à Fundação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Smart money vale mais do que só money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91056"/>
            <a:ext cx="512064" cy="512064"/>
          </a:xfrm>
          <a:prstGeom prst="ellipse">
            <a:avLst/>
          </a:prstGeom>
          <a:solidFill>
            <a:srgbClr val="FFF1D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72768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dirty="0">
                <a:solidFill>
                  <a:srgbClr val="000000"/>
                </a:solidFill>
              </a:rPr>
              <a:t>💶</a:t>
            </a:r>
            <a:endParaRPr lang="en-US" sz="1904" dirty="0"/>
          </a:p>
        </p:txBody>
      </p:sp>
      <p:sp>
        <p:nvSpPr>
          <p:cNvPr id="10" name="Text 8"/>
          <p:cNvSpPr/>
          <p:nvPr/>
        </p:nvSpPr>
        <p:spPr>
          <a:xfrm>
            <a:off x="1371600" y="144475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Boost inicial ~€250 mil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40480" y="1444752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Cobre o ano 1 por inteiro; tranches com KPIs trimestrais. Backstop decrescente nos anos 2-3 se a rampa de receitas demorar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822960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670048"/>
            <a:ext cx="512064" cy="512064"/>
          </a:xfrm>
          <a:prstGeom prst="ellipse">
            <a:avLst/>
          </a:prstGeom>
          <a:solidFill>
            <a:srgbClr val="ECE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51760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dirty="0">
                <a:solidFill>
                  <a:srgbClr val="000000"/>
                </a:solidFill>
              </a:rPr>
              <a:t>🧭</a:t>
            </a:r>
            <a:endParaRPr lang="en-US" sz="1904" dirty="0"/>
          </a:p>
        </p:txBody>
      </p:sp>
      <p:sp>
        <p:nvSpPr>
          <p:cNvPr id="15" name="Text 13"/>
          <p:cNvSpPr/>
          <p:nvPr/>
        </p:nvSpPr>
        <p:spPr>
          <a:xfrm>
            <a:off x="1371600" y="252374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Mentoria + aceleradora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40480" y="2523744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Mentor sénior da órbita FJM (1h/mês) e acesso a programa de impacto — MAZE X, Casa do Impacto ou NOVA SBE, onde a Fundação tem ligação natural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822960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49040"/>
            <a:ext cx="512064" cy="512064"/>
          </a:xfrm>
          <a:prstGeom prst="ellipse">
            <a:avLst/>
          </a:prstGeom>
          <a:solidFill>
            <a:srgbClr val="D9F2E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30752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dirty="0">
                <a:solidFill>
                  <a:srgbClr val="000000"/>
                </a:solidFill>
              </a:rPr>
              <a:t>🚪</a:t>
            </a:r>
            <a:endParaRPr lang="en-US" sz="1904" dirty="0"/>
          </a:p>
        </p:txBody>
      </p:sp>
      <p:sp>
        <p:nvSpPr>
          <p:cNvPr id="20" name="Text 18"/>
          <p:cNvSpPr/>
          <p:nvPr/>
        </p:nvSpPr>
        <p:spPr>
          <a:xfrm>
            <a:off x="1371600" y="360273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Portas e clientes-piloto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840480" y="3602736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Introduções: Segurança Social/GEP, ANMP e câmaras; e 2-3 empresas do grupo como pilotos do childcare benefit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Fundação fica nos bastidores, sem branding no produto — como conversado.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3474720" cy="2743200"/>
          </a:xfrm>
          <a:prstGeom prst="ellipse">
            <a:avLst/>
          </a:prstGeom>
          <a:solidFill>
            <a:srgbClr val="DEF5E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463040"/>
            <a:ext cx="3474720" cy="2743200"/>
          </a:xfrm>
          <a:prstGeom prst="ellipse">
            <a:avLst/>
          </a:prstGeom>
          <a:solidFill>
            <a:srgbClr val="ECE4FF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que me comprometo a entregar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Metas verificáveis, reportadas trimestralmente com o canvas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9047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Ano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1490472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100 mil visitas/mês · 500 creches com conta · app nativa · 10 creches beta PRO · 3 cartas de intenção de câmaras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49631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Ano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4520" y="2496312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Break-even operacional: PRO lançado, primeiras câmaras e empresas pagantes · 220 mil visitas/mês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DEF5E1"/>
          </a:solidFill>
          <a:ln/>
          <a:effectLst>
            <a:outerShdw sx="100000" sy="100000" kx="0" ky="0" algn="bl" rotWithShape="0" blurRad="127000" dist="25400" dir="2700000">
              <a:srgbClr val="3C285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50215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9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Ano 3+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74520" y="3502152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Autonomia total — a FJM sai como financiadora e fica como madrinha de uma infraestrutura cívica que se paga a si própria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«O produto existe. Os pais já cá estão. Com este arranque, em 3 anos Portugal tem uma plataforma pública que não custa nada ao país.»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Creches.app — Proposta FJM</dc:title>
  <dc:subject>PptxGenJS Presentation</dc:subject>
  <dc:creator>Joaquim Cabral</dc:creator>
  <cp:lastModifiedBy>Joaquim Cabral</cp:lastModifiedBy>
  <cp:revision>1</cp:revision>
  <dcterms:created xsi:type="dcterms:W3CDTF">2026-07-10T16:04:08Z</dcterms:created>
  <dcterms:modified xsi:type="dcterms:W3CDTF">2026-07-10T16:04:08Z</dcterms:modified>
</cp:coreProperties>
</file>