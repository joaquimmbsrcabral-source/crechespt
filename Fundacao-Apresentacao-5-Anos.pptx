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Equipa (FTE)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3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Hoje</c:v>
                  </c:pt>
                  <c:pt idx="1">
                    <c:v>Ano 1</c:v>
                  </c:pt>
                  <c:pt idx="2">
                    <c:v>Ano 2</c:v>
                  </c:pt>
                  <c:pt idx="3">
                    <c:v>Ano 3</c:v>
                  </c:pt>
                  <c:pt idx="4">
                    <c:v>Ano 4</c:v>
                  </c:pt>
                  <c:pt idx="5">
                    <c:v>Ano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3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D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Orçamento anual (€ mil)</c:v>
                </c:pt>
              </c:strCache>
            </c:strRef>
          </c:tx>
          <c:spPr>
            <a:solidFill>
              <a:srgbClr val="FF9F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3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  <c:pt idx="3">
                    <c:v>Ano 4</c:v>
                  </c:pt>
                  <c:pt idx="4">
                    <c:v>Ano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308</c:v>
                </c:pt>
                <c:pt idx="1">
                  <c:v>374</c:v>
                </c:pt>
                <c:pt idx="2">
                  <c:v>514</c:v>
                </c:pt>
                <c:pt idx="3">
                  <c:v>655</c:v>
                </c:pt>
                <c:pt idx="4">
                  <c:v>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3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9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confiança. Enquadrar: este plano responde ao desafio que a Fundação colocou — o que é preciso para o creches.app ser a plataforma de eleição em 5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Dados: INE 2025 (87.732 nascimentos, +3,3%); Creche Feliz abrangeu 126.105 crianças mas chega a ~50% das que precisam (Público, ago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o capital da Fundação não vai financiar uma experiência — vai escalar algo que já funciona e já tem prova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útil: o que o Zillow é para casas nos EUA ou o Doctolib para consultas em França — mas sem fins lucrativos, como infraestrutura cívica.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identidade founder-led mantém-se: Joaquim continua a ser o rosto. A Fundação apoia nos bastidores, sem branding no produto — como conversado.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7772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🍼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Creches.app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Estratégico 2026–2031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de eleição dos portugueses para procurar creche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Joaquim Cabral · Julho 2026 · Confidencial — para discussão com a Fundação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creche em Portugal é um labirinto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que todas as famílias enfrentam — e que penaliza mais quem tem menos tempo e menos rede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481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fragmentado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688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Blogs, listas desatualizadas, zero comparação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3258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3319272" y="1481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🏛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269748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Social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15768" y="24688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para técnicos: sem vagas, sem preços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68112" y="1481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22392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📞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484632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telefonemas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24688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creche de cada vez, em horário de trabalho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132588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6952" y="14813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⏳</a:t>
            </a:r>
            <a:endParaRPr lang="en-US" sz="2160" dirty="0"/>
          </a:p>
        </p:txBody>
      </p:sp>
      <p:sp>
        <p:nvSpPr>
          <p:cNvPr id="22" name="Text 20"/>
          <p:cNvSpPr/>
          <p:nvPr/>
        </p:nvSpPr>
        <p:spPr>
          <a:xfrm>
            <a:off x="6995160" y="2121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de espera opacas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3448" y="2468880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sem feedback, geridas creche a creche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5478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8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87.732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66928" y="42245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bebés nascidos em 2025 — máximo da década (INE)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46120" y="3383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35478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 mil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3355848" y="42245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crianças até aos 3 anos com direito ao Creche Feliz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3383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35478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144768" y="42245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crianças que precisam ficam fora das vagas gratuitas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uma pessoa já construiu em meses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financiamento, sem equipa, custos de infraestrutura ≈ 0 — a base está validada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990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creches no mapa nacional — o dataset mais completo do país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3990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8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55848" y="2075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indexadas: fichas, concelhos, distritos, guias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3990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1.º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44768" y="20756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Gemini para «como encontrar creches em Portugal»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953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+ filtros por idade, tipo, distrito e localização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907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953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mensalidade (IPSS, privada, Creche Feliz)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 lado-a-lado — nem a Carta Social tem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00600" y="3584448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em tempo real (MVP) — 1.ª ferramenta do género em 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242816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224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Imprensa: NiT e Público; press kit profissional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4242816"/>
            <a:ext cx="457200" cy="457200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224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Comunidade: reports de pais, newsletter, reviews em preparação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posição é clara: plataforma de decisão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alternativas listam; o creches.app ajuda a decidir — e em breve, a conseguir vaga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00200"/>
                <a:gridCol w="18745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Carta Social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Diretórios comerciais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creches.app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nacional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2.800+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Pensado para pais (UX)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Custos e calculadora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Vagas em tempo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(MVP)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Gratuito, sem ads, sem venda de dados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modelo pago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por estatuto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moat: dados verificados pela comunidade + confiança founder-led + gratuitidade estrutural — um clone comercial não tem modelo de negócio.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para 2031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«Procurar creche em Portugal = abrir o creches.app.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que existe, o que custa, onde há vaga — e candidatar-se.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gratuito, para todos.»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3A316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mil+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37033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únicos por mês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3A3168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61488" y="37033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pais em busca ativa usam a plataforma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3A316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10328" y="37033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creches com vagas em tempo real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3A3168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59168" y="37033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equipamentos: creches, amas e pré-escolar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lá chegamos: 5 pilares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eleição conquista-se — resolvendo melhor e estando em toda a jornada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7F5F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624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imbatíveis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Social via API + câmaras + comunidade a verificar. Quem tem os melhores dados, ganha.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FF1E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0848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066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em tempo real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04825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que ninguém responde: «onde há vaga AGORA?» Push: «abriu vaga a 800 m».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7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807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7706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→ conseguir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7706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Candidaturas via plataforma, estado do processo, Creche Feliz simplificado.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7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5295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511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9300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jornada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1188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Pediatras, maternidades, cursos de parto, SEO, assistentes de IA, relatório trimestral que vira notícia.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8229600" cy="621792"/>
          </a:xfrm>
          <a:prstGeom prst="roundRect">
            <a:avLst>
              <a:gd name="adj" fmla="val 10294"/>
            </a:avLst>
          </a:prstGeom>
          <a:solidFill>
            <a:srgbClr val="F7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4251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4233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2153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421538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moderadas, dados abertos, founder-led, sem ads — o ativo que ninguém compra.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2026–2031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condicionada a resultados: cada fase só arranca com as metas da anterior cumpridas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0" cy="2798064"/>
          </a:xfrm>
          <a:prstGeom prst="line">
            <a:avLst/>
          </a:prstGeom>
          <a:noFill/>
          <a:ln w="31750">
            <a:solidFill>
              <a:srgbClr val="FF9F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62456"/>
            <a:ext cx="274320" cy="274320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280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Profissionalizar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280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+ equipa de 5 · app nativa · 500 creches com vagas · 3 câmaras · 100 mil/mês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2057400"/>
            <a:ext cx="274320" cy="274320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9751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 autoridade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751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de pais · relatório «Estado das Creches» · redes IPSS · amas · 220 mil/mês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" y="2752344"/>
            <a:ext cx="274320" cy="274320"/>
          </a:xfrm>
          <a:prstGeom prst="ellipse">
            <a:avLst/>
          </a:prstGeom>
          <a:solidFill>
            <a:srgbClr val="FF9F6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700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700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encontrar ao conseguir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670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Candidaturas via app · 1.500 creches com vagas · parceria Segurança Social · 350 mil/mês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" y="3447288"/>
            <a:ext cx="274320" cy="274320"/>
          </a:xfrm>
          <a:prstGeom prst="ellipse">
            <a:avLst/>
          </a:prstGeom>
          <a:solidFill>
            <a:srgbClr val="FF9F6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3649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364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cívica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364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Pré-escolar (3–6) · API pública · versão EN · utilidade pública · 450 mil/mês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" y="4142232"/>
            <a:ext cx="274320" cy="274320"/>
          </a:xfrm>
          <a:prstGeom prst="ellipse">
            <a:avLst/>
          </a:prstGeom>
          <a:solidFill>
            <a:srgbClr val="18A7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0599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40599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059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de penetração · 4.000+ equipamentos · financiamento diversificado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Equipa: de 1 para 10, ao ritmo da tração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B no arranque (5 pessoas), Cenário C (10) apenas com metas dos anos 1–2 cumpridas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83480" y="1371600"/>
            <a:ext cx="438912" cy="438912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6" name="Text 3"/>
          <p:cNvSpPr/>
          <p:nvPr/>
        </p:nvSpPr>
        <p:spPr>
          <a:xfrm>
            <a:off x="4937760" y="1353312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</a:rPr>
              <a:t>👤</a:t>
            </a:r>
            <a:endParaRPr lang="en-US" sz="1728" dirty="0"/>
          </a:p>
        </p:txBody>
      </p:sp>
      <p:sp>
        <p:nvSpPr>
          <p:cNvPr id="7" name="Text 4"/>
          <p:cNvSpPr/>
          <p:nvPr/>
        </p:nvSpPr>
        <p:spPr>
          <a:xfrm>
            <a:off x="5532120" y="1380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CEO/Produto — Joaquim (rosto público, decisor de produto)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983480" y="1993392"/>
            <a:ext cx="438912" cy="438912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9751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</a:rPr>
              <a:t>💻</a:t>
            </a:r>
            <a:endParaRPr lang="en-US" sz="1728" dirty="0"/>
          </a:p>
        </p:txBody>
      </p:sp>
      <p:sp>
        <p:nvSpPr>
          <p:cNvPr id="10" name="Text 7"/>
          <p:cNvSpPr/>
          <p:nvPr/>
        </p:nvSpPr>
        <p:spPr>
          <a:xfrm>
            <a:off x="5532120" y="2002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Engenharia: full-stack → mobile → dados (1,5 → 4)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83480" y="2615184"/>
            <a:ext cx="438912" cy="438912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2596896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</a:rPr>
              <a:t>📣</a:t>
            </a:r>
            <a:endParaRPr lang="en-US" sz="1728" dirty="0"/>
          </a:p>
        </p:txBody>
      </p:sp>
      <p:sp>
        <p:nvSpPr>
          <p:cNvPr id="13" name="Text 10"/>
          <p:cNvSpPr/>
          <p:nvPr/>
        </p:nvSpPr>
        <p:spPr>
          <a:xfrm>
            <a:off x="5532120" y="2624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 &amp; Growth: imprensa, redes, GEO (1 → 2)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983480" y="3236976"/>
            <a:ext cx="438912" cy="438912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2186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</a:rPr>
              <a:t>🚗</a:t>
            </a:r>
            <a:endParaRPr lang="en-US" sz="1728" dirty="0"/>
          </a:p>
        </p:txBody>
      </p:sp>
      <p:sp>
        <p:nvSpPr>
          <p:cNvPr id="16" name="Text 13"/>
          <p:cNvSpPr/>
          <p:nvPr/>
        </p:nvSpPr>
        <p:spPr>
          <a:xfrm>
            <a:off x="553212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Parcerias: creches, câmaras, hospitais (0,5 → 2)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83480" y="3858768"/>
            <a:ext cx="438912" cy="438912"/>
          </a:xfrm>
          <a:prstGeom prst="ellipse">
            <a:avLst/>
          </a:prstGeom>
          <a:solidFill>
            <a:srgbClr val="FFF1E8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384048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dirty="0">
                <a:solidFill>
                  <a:srgbClr val="000000"/>
                </a:solidFill>
              </a:rPr>
              <a:t>🎨</a:t>
            </a:r>
            <a:endParaRPr lang="en-US" sz="1728" dirty="0"/>
          </a:p>
        </p:txBody>
      </p:sp>
      <p:sp>
        <p:nvSpPr>
          <p:cNvPr id="19" name="Text 16"/>
          <p:cNvSpPr/>
          <p:nvPr/>
        </p:nvSpPr>
        <p:spPr>
          <a:xfrm>
            <a:off x="5532120" y="3867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Design/Conteúdo + Operações (1 → 2)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Orçamento: ~€2,57M em 5 anos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disciplinado (~€308 mil) a crescer só com tração comprovada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28016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7F5FB"/>
          </a:solidFill>
          <a:ln/>
        </p:spPr>
      </p:sp>
      <p:sp>
        <p:nvSpPr>
          <p:cNvPr id="6" name="Text 3"/>
          <p:cNvSpPr/>
          <p:nvPr/>
        </p:nvSpPr>
        <p:spPr>
          <a:xfrm>
            <a:off x="562356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vai o dinheiro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23560" y="1737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Salários e encargos  </a:t>
            </a:r>
            <a:pPr indent="0" marL="0">
              <a:buNone/>
            </a:pPr>
            <a:r>
              <a:rPr lang="en-US" sz="11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23560" y="20848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eventos, field ops  </a:t>
            </a:r>
            <a:pPr indent="0" marL="0">
              <a:buNone/>
            </a:pPr>
            <a:r>
              <a:rPr lang="en-US" sz="11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23560" y="24323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Infra, legal, contabilidade  </a:t>
            </a:r>
            <a:pPr indent="0" marL="0">
              <a:buNone/>
            </a:pPr>
            <a:r>
              <a:rPr lang="en-US" sz="11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23560" y="27797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imprevistos  </a:t>
            </a:r>
            <a:pPr indent="0" marL="0">
              <a:buNone/>
            </a:pPr>
            <a:r>
              <a:rPr lang="en-US" sz="11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 incluída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40680" y="3429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1E8"/>
          </a:solidFill>
          <a:ln/>
        </p:spPr>
      </p:sp>
      <p:sp>
        <p:nvSpPr>
          <p:cNvPr id="12" name="Text 9"/>
          <p:cNvSpPr/>
          <p:nvPr/>
        </p:nvSpPr>
        <p:spPr>
          <a:xfrm>
            <a:off x="5623560" y="35387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Condições: tranches anuais com revisão de KPIs · runway garantido de 24 meses · co-financiadores a partir do ano 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portas que só a Fundação abre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capital resolve a equipa; o acesso institucional resolve a escala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508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90472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🏛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560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Ministério do Trabalho e Seg. Social: Carta Social via API + articulação Creche Feliz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 e Instituto da Segurança Social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ANMP → memorandos com câmaras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508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🤝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filantrópica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560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Gulbenkian, La Caixa, EDP: co-financiamento a partir do ano 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Misericórdias, Mutualidades, SCML: acordos de rede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Diversificar = proteger o projeto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697480" cy="3246120"/>
          </a:xfrm>
          <a:prstGeom prst="roundRect">
            <a:avLst>
              <a:gd name="adj" fmla="val 3051"/>
            </a:avLst>
          </a:prstGeom>
          <a:solidFill>
            <a:srgbClr val="F7F5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96912" y="1508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251192" y="1490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🧭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25603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consultivo: educação de infância, civic-tech, políticas públicas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Mentoria mensal de quadro sénior da Fundação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jurídico na constituição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 princípios inegociáveis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sem fins lucrativos · Fundação como patrono, nos bastidores · fundador como presidente executivo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5544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🆓</a:t>
            </a:r>
            <a:endParaRPr lang="en-US" sz="1872" dirty="0"/>
          </a:p>
        </p:txBody>
      </p:sp>
      <p:sp>
        <p:nvSpPr>
          <p:cNvPr id="7" name="Text 5"/>
          <p:cNvSpPr/>
          <p:nvPr/>
        </p:nvSpPr>
        <p:spPr>
          <a:xfrm>
            <a:off x="120700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 para sempre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07008" y="177393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pais e creches — proibição estatutária de ads e venda de dados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4928616" y="157276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5544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🧭</a:t>
            </a:r>
            <a:endParaRPr lang="en-US" sz="1872" dirty="0"/>
          </a:p>
        </p:txBody>
      </p:sp>
      <p:sp>
        <p:nvSpPr>
          <p:cNvPr id="12" name="Text 10"/>
          <p:cNvSpPr/>
          <p:nvPr/>
        </p:nvSpPr>
        <p:spPr>
          <a:xfrm>
            <a:off x="555040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Independência de produto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50408" y="177393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funcionalidades e comunicação decididos pela equipa executiva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" y="25968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" y="25786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👤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207008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07008" y="279806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«Construído por um pai» — sem branding de financiadores no produto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395728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928616" y="2596896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25786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📂</a:t>
            </a:r>
            <a:endParaRPr lang="en-US" sz="1872" dirty="0"/>
          </a:p>
        </p:txBody>
      </p:sp>
      <p:sp>
        <p:nvSpPr>
          <p:cNvPr id="22" name="Text 20"/>
          <p:cNvSpPr/>
          <p:nvPr/>
        </p:nvSpPr>
        <p:spPr>
          <a:xfrm>
            <a:off x="5550408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abertos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50408" y="279806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partilhado com investigadores, jornalistas e Estado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216" y="362102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" y="36027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🏦</a:t>
            </a:r>
            <a:endParaRPr lang="en-US" sz="1872" dirty="0"/>
          </a:p>
        </p:txBody>
      </p:sp>
      <p:sp>
        <p:nvSpPr>
          <p:cNvPr id="27" name="Text 25"/>
          <p:cNvSpPr/>
          <p:nvPr/>
        </p:nvSpPr>
        <p:spPr>
          <a:xfrm>
            <a:off x="1207008" y="3511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na associação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07008" y="382219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 da missão em qualquer cenário; cláusula de saída recíproca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9856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F7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28616" y="362102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3602736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dirty="0">
                <a:solidFill>
                  <a:srgbClr val="000000"/>
                </a:solidFill>
              </a:rPr>
              <a:t>📆</a:t>
            </a:r>
            <a:endParaRPr lang="en-US" sz="1872" dirty="0"/>
          </a:p>
        </p:txBody>
      </p:sp>
      <p:sp>
        <p:nvSpPr>
          <p:cNvPr id="32" name="Text 30"/>
          <p:cNvSpPr/>
          <p:nvPr/>
        </p:nvSpPr>
        <p:spPr>
          <a:xfrm>
            <a:off x="5550408" y="3511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de 24 meses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550408" y="382219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de prioridade do financiador exigem 2 anos de pré-aviso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medimos o sucesso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Métrica-norte: % de pais em busca ativa que usam o creches.app · reporte trimestral à Fundação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34440"/>
                <a:gridCol w="1234440"/>
                <a:gridCol w="1234440"/>
                <a:gridCol w="1234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Visitantes únicos/mês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 mil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mil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mil+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Penetração (pais em busca ativa)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Creches com vagas em tempo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Parcerias institucionais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Candidaturas via plataforma / 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98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NPS dos pais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3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Penetração estimada por visitantes únicos vs. coortes de nascimentos (INE) + inquérito anual independente.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— e como já estão endereçados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017520" cy="658368"/>
          </a:xfrm>
          <a:prstGeom prst="roundRect">
            <a:avLst>
              <a:gd name="adj" fmla="val 9722"/>
            </a:avLst>
          </a:prstGeom>
          <a:solidFill>
            <a:srgbClr val="F7F5F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097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lança ferramenta própria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520440" y="1143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097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parceiro, não rival: dados abertos, API, integração Creche Feliz — integrar-nos sai mais barato que replicar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017520" cy="658368"/>
          </a:xfrm>
          <a:prstGeom prst="roundRect">
            <a:avLst>
              <a:gd name="adj" fmla="val 9722"/>
            </a:avLst>
          </a:prstGeom>
          <a:solidFill>
            <a:srgbClr val="F7F5F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56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não atingem massa crítica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20440" y="19019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18562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 de terreno dedicada + dashboard gratuito para creches + dupla fonte (pais também reportam)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3017520" cy="658368"/>
          </a:xfrm>
          <a:prstGeom prst="roundRect">
            <a:avLst>
              <a:gd name="adj" fmla="val 9722"/>
            </a:avLst>
          </a:prstGeom>
          <a:solidFill>
            <a:srgbClr val="F7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615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comercial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20440" y="26609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6151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moat são dados verificados, comunidade e confiança; gratuitidade estrutural mata o modelo de negócio do clone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3017520" cy="658368"/>
          </a:xfrm>
          <a:prstGeom prst="roundRect">
            <a:avLst>
              <a:gd name="adj" fmla="val 9722"/>
            </a:avLst>
          </a:prstGeom>
          <a:solidFill>
            <a:srgbClr val="F7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3741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de financiador único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440" y="34198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3741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Co-financiadores a partir do ano 2 + runway contratual de 24 meses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3017520" cy="658368"/>
          </a:xfrm>
          <a:prstGeom prst="roundRect">
            <a:avLst>
              <a:gd name="adj" fmla="val 9722"/>
            </a:avLst>
          </a:prstGeom>
          <a:solidFill>
            <a:srgbClr val="F7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1330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3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da «alma» ao escalar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20440" y="4178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13308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9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founder-led preservados: o fundador escreve à imprensa, grava vídeos, fala com pais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207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desta proposta secção a secção (2 semanas)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739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 de princípios e governance, revisto por advogados (1 mês)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68296"/>
            <a:ext cx="384048" cy="384048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3408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Constituição da associação + primeira tranche (mês 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384048" cy="384048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9077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Primeiras contratações e arranque do Ano 1 (mês 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«Portugal tem hoje mais bebés a nascer do que em qualquer ano da última década.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Merecem um sistema de acesso a creche à altura. Vamos construí-lo juntos.»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🍼 creches.app · Joaquim Cabral · geral@creches.app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Plano Estratégico 2026–2031</dc:title>
  <dc:subject>PptxGenJS Presentation</dc:subject>
  <dc:creator>Joaquim Cabral</dc:creator>
  <cp:lastModifiedBy>Joaquim Cabral</cp:lastModifiedBy>
  <cp:revision>1</cp:revision>
  <dcterms:created xsi:type="dcterms:W3CDTF">2026-07-03T21:24:29Z</dcterms:created>
  <dcterms:modified xsi:type="dcterms:W3CDTF">2026-07-03T21:24:29Z</dcterms:modified>
</cp:coreProperties>
</file>